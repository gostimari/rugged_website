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embeddedFontLst>
    <p:embeddedFont>
      <p:font typeface="Aptos Light" panose="020B0004020202020204" pitchFamily="34" charset="0"/>
      <p:regular r:id="rId15"/>
      <p: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20262B"/>
    <a:srgbClr val="018DA0"/>
    <a:srgbClr val="657CA1"/>
    <a:srgbClr val="464E52"/>
    <a:srgbClr val="FB76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C8DC1C-E16F-4BA2-AE8E-7E7F7A0B27E6}" v="29" dt="2026-10-09T10:38:23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55" autoAdjust="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90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C6145-4EEF-4F4E-99C7-C475762F9A64}" type="datetimeFigureOut">
              <a:rPr lang="pt-PT" smtClean="0"/>
              <a:t>12/10/2026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8C4BC-2F10-4D86-A222-BA7111BFF26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82426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E8887-2A8E-4663-9D8B-3E64E07F209C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64F9-7823-4FF6-B529-8A4E05D037D3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8AA1-09E4-4E4C-BD7E-5D2A7108751F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A8EB-133B-48CA-AD13-5FA27151FD4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3FA2-5495-4558-A696-E29500BC3553}" type="datetime1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4C81B-F208-4607-8B71-65DE23E9F7A4}" type="datetime1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9B268-CC6B-4CF1-BF31-EFCFB3FC0739}" type="datetime1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4EEF2-724B-401F-A143-40CA97DEEE5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2D70-B34A-459E-AB7B-1B9E358D2163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0D38-F0EA-4520-80BE-771855817309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43499-9465-4D8C-A943-A80AE7A98614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574E33-1313-4919-BE56-0E939A8C3FF4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12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m 32">
            <a:extLst>
              <a:ext uri="{FF2B5EF4-FFF2-40B4-BE49-F238E27FC236}">
                <a16:creationId xmlns:a16="http://schemas.microsoft.com/office/drawing/2014/main" id="{33F72939-5390-B135-F92F-CBE538032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230" y="-495"/>
            <a:ext cx="6535885" cy="6856306"/>
          </a:xfrm>
          <a:prstGeom prst="rect">
            <a:avLst/>
          </a:prstGeom>
        </p:spPr>
      </p:pic>
      <p:sp>
        <p:nvSpPr>
          <p:cNvPr id="40" name="Retângulo 39">
            <a:extLst>
              <a:ext uri="{FF2B5EF4-FFF2-40B4-BE49-F238E27FC236}">
                <a16:creationId xmlns:a16="http://schemas.microsoft.com/office/drawing/2014/main" id="{97819800-8EE7-0935-B37A-FBB157BA9C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17898" y="0"/>
            <a:ext cx="3257074" cy="6858000"/>
          </a:xfrm>
          <a:prstGeom prst="rect">
            <a:avLst/>
          </a:prstGeom>
          <a:gradFill flip="none" rotWithShape="1">
            <a:gsLst>
              <a:gs pos="0">
                <a:srgbClr val="20262B"/>
              </a:gs>
              <a:gs pos="100000">
                <a:srgbClr val="20262B">
                  <a:alpha val="0"/>
                </a:srgb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AB1F2713-EBD0-859A-0FAD-F91F26366C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185078"/>
            <a:ext cx="12192000" cy="676892"/>
          </a:xfrm>
          <a:prstGeom prst="rect">
            <a:avLst/>
          </a:prstGeom>
          <a:solidFill>
            <a:srgbClr val="000000">
              <a:alpha val="811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1A4F32A4-839F-6622-2927-6E7DB321DF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 rot="19683319">
            <a:off x="-1212342" y="509127"/>
            <a:ext cx="12192000" cy="2244404"/>
          </a:xfrm>
          <a:prstGeom prst="rect">
            <a:avLst/>
          </a:prstGeom>
        </p:spPr>
      </p:pic>
      <p:sp>
        <p:nvSpPr>
          <p:cNvPr id="34" name="Retângulo 33">
            <a:extLst>
              <a:ext uri="{FF2B5EF4-FFF2-40B4-BE49-F238E27FC236}">
                <a16:creationId xmlns:a16="http://schemas.microsoft.com/office/drawing/2014/main" id="{557BA036-0947-C7FC-AE2C-2D3434B618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5638230" cy="6858000"/>
          </a:xfrm>
          <a:prstGeom prst="rect">
            <a:avLst/>
          </a:prstGeom>
          <a:gradFill flip="none" rotWithShape="1">
            <a:gsLst>
              <a:gs pos="0">
                <a:srgbClr val="20262B"/>
              </a:gs>
              <a:gs pos="100000">
                <a:srgbClr val="20262B">
                  <a:alpha val="0"/>
                </a:srgb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BBB5C395-86DF-6618-D90E-DCC6B674AD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49160" y="6177458"/>
            <a:ext cx="2652380" cy="678353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A16964B1-CA2C-C94D-2778-83CE129094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562" y="664248"/>
            <a:ext cx="4063652" cy="16250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3450" y="2293590"/>
            <a:ext cx="172483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GB" sz="1050" b="1" i="0" u="none" dirty="0">
                <a:solidFill>
                  <a:srgbClr val="FB7601"/>
                </a:solidFill>
                <a:latin typeface="Aptos" panose="020B0004020202020204" pitchFamily="34" charset="0"/>
              </a:rPr>
              <a:t>CONFERENCE/VENUE/DATE</a:t>
            </a:r>
            <a:endParaRPr sz="1050" b="1" i="0" u="none" dirty="0">
              <a:solidFill>
                <a:srgbClr val="FB7601"/>
              </a:solidFill>
              <a:latin typeface="Aptos" panose="020B0004020202020204" pitchFamily="34" charset="0"/>
            </a:endParaRP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11E2EA6F-DAA5-1768-CB14-DF3D89A462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5047" y="5918969"/>
            <a:ext cx="2042097" cy="1148903"/>
          </a:xfrm>
          <a:prstGeom prst="rect">
            <a:avLst/>
          </a:prstGeom>
        </p:spPr>
      </p:pic>
      <p:sp>
        <p:nvSpPr>
          <p:cNvPr id="9" name="Rectangle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" y="2374552"/>
            <a:ext cx="228600" cy="28575"/>
          </a:xfrm>
          <a:prstGeom prst="rect">
            <a:avLst/>
          </a:prstGeom>
          <a:solidFill>
            <a:srgbClr val="FB7601"/>
          </a:solidFill>
          <a:ln>
            <a:solidFill>
              <a:srgbClr val="FB76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2636490"/>
            <a:ext cx="6100762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GB" sz="3600" b="1" i="0" u="none" dirty="0">
                <a:solidFill>
                  <a:srgbClr val="FFFFFF"/>
                </a:solidFill>
                <a:latin typeface="Montserrat"/>
              </a:rPr>
              <a:t>MAIN TITLE</a:t>
            </a:r>
            <a:endParaRPr sz="3600" b="1" i="0" u="none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3901320"/>
            <a:ext cx="5238750" cy="1332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GB" sz="1500" b="0" i="0" u="none" dirty="0">
                <a:solidFill>
                  <a:srgbClr val="7B8587"/>
                </a:solidFill>
                <a:latin typeface="Aptos" panose="020B0004020202020204" pitchFamily="34" charset="0"/>
              </a:rPr>
              <a:t>Author1, Author2…</a:t>
            </a:r>
          </a:p>
          <a:p>
            <a:pPr algn="l">
              <a:lnSpc>
                <a:spcPts val="2100"/>
              </a:lnSpc>
            </a:pPr>
            <a:r>
              <a:rPr lang="en-GB" sz="1100" dirty="0">
                <a:solidFill>
                  <a:srgbClr val="7B8587"/>
                </a:solidFill>
                <a:latin typeface="Aptos" panose="020B0004020202020204" pitchFamily="34" charset="0"/>
              </a:rPr>
              <a:t>Affiliation</a:t>
            </a:r>
            <a:endParaRPr lang="en-GB" sz="1500" dirty="0">
              <a:solidFill>
                <a:srgbClr val="7B8587"/>
              </a:solidFill>
              <a:latin typeface="Aptos" panose="020B0004020202020204" pitchFamily="34" charset="0"/>
            </a:endParaRPr>
          </a:p>
          <a:p>
            <a:pPr algn="l">
              <a:lnSpc>
                <a:spcPts val="2100"/>
              </a:lnSpc>
            </a:pPr>
            <a:endParaRPr lang="en-GB" sz="1500" b="0" i="0" u="none" dirty="0">
              <a:solidFill>
                <a:srgbClr val="7B8587"/>
              </a:solidFill>
              <a:latin typeface="Aptos" panose="020B0004020202020204" pitchFamily="34" charset="0"/>
            </a:endParaRPr>
          </a:p>
          <a:p>
            <a:pPr algn="l">
              <a:lnSpc>
                <a:spcPts val="2100"/>
              </a:lnSpc>
            </a:pPr>
            <a:endParaRPr lang="en-GB" sz="1500" dirty="0">
              <a:solidFill>
                <a:srgbClr val="7B8587"/>
              </a:solidFill>
              <a:latin typeface="Aptos" panose="020B0004020202020204" pitchFamily="34" charset="0"/>
            </a:endParaRPr>
          </a:p>
          <a:p>
            <a:pPr algn="l">
              <a:lnSpc>
                <a:spcPts val="2100"/>
              </a:lnSpc>
            </a:pPr>
            <a:r>
              <a:rPr lang="en-GB" sz="1500" dirty="0">
                <a:solidFill>
                  <a:srgbClr val="7B8587"/>
                </a:solidFill>
                <a:latin typeface="Aptos" panose="020B0004020202020204" pitchFamily="34" charset="0"/>
              </a:rPr>
              <a:t>Institutional Logos</a:t>
            </a:r>
            <a:endParaRPr sz="1500" b="0" i="0" u="none" dirty="0">
              <a:solidFill>
                <a:srgbClr val="7B8587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42522" y="6306441"/>
            <a:ext cx="1473160" cy="1231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i="0" u="none" dirty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FCT Project Ref. 2023.16314.ICDT</a:t>
            </a:r>
          </a:p>
        </p:txBody>
      </p:sp>
      <p:sp>
        <p:nvSpPr>
          <p:cNvPr id="18" name="TextBox 17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27282" y="6446414"/>
            <a:ext cx="411765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Supported by national funds through FCT –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Fundação</a:t>
            </a:r>
            <a:r>
              <a:rPr lang="en-US" sz="800" dirty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 para a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Ciência</a:t>
            </a:r>
            <a:r>
              <a:rPr lang="en-US" sz="800" dirty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 e a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Tecnologia</a:t>
            </a:r>
            <a:r>
              <a:rPr lang="en-US" sz="800" dirty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, I.P., under project RUGGED – “Robust Uncrewed Ground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technoloGy</a:t>
            </a:r>
            <a:r>
              <a:rPr lang="en-US" sz="800" dirty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dEvelopment</a:t>
            </a:r>
            <a:r>
              <a:rPr lang="en-US" sz="800" dirty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 and Deployment”</a:t>
            </a:r>
            <a:endParaRPr sz="100" b="1" i="0" u="none" dirty="0">
              <a:solidFill>
                <a:schemeClr val="bg1">
                  <a:lumMod val="65000"/>
                </a:schemeClr>
              </a:solidFill>
              <a:latin typeface="Aptos Light" panose="020B0004020202020204" pitchFamily="34" charset="0"/>
            </a:endParaRPr>
          </a:p>
        </p:txBody>
      </p:sp>
      <p:sp>
        <p:nvSpPr>
          <p:cNvPr id="43" name="TextBox 14">
            <a:extLst>
              <a:ext uri="{FF2B5EF4-FFF2-40B4-BE49-F238E27FC236}">
                <a16:creationId xmlns:a16="http://schemas.microsoft.com/office/drawing/2014/main" id="{EBF0F69A-C2C5-039A-6E9E-A88885A7CA0A}"/>
              </a:ext>
            </a:extLst>
          </p:cNvPr>
          <p:cNvSpPr txBox="1"/>
          <p:nvPr/>
        </p:nvSpPr>
        <p:spPr>
          <a:xfrm>
            <a:off x="8326198" y="3149451"/>
            <a:ext cx="1906734" cy="52456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GB" sz="1500" b="0" i="0" u="none" dirty="0">
                <a:solidFill>
                  <a:sysClr val="windowText" lastClr="000000"/>
                </a:solidFill>
                <a:latin typeface="Aptos" panose="020B0004020202020204" pitchFamily="34" charset="0"/>
              </a:rPr>
              <a:t>ADD YOUR IMAGE</a:t>
            </a:r>
          </a:p>
          <a:p>
            <a:pPr algn="ctr">
              <a:lnSpc>
                <a:spcPts val="2100"/>
              </a:lnSpc>
            </a:pPr>
            <a:r>
              <a:rPr lang="en-GB" sz="1500" dirty="0">
                <a:solidFill>
                  <a:sysClr val="windowText" lastClr="000000"/>
                </a:solidFill>
                <a:latin typeface="Aptos" panose="020B0004020202020204" pitchFamily="34" charset="0"/>
              </a:rPr>
              <a:t>AND SEND IT TO BACK</a:t>
            </a:r>
            <a:endParaRPr sz="1500" b="0" i="0" u="none" dirty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10275"/>
            <a:ext cx="10972800" cy="39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501354"/>
            <a:ext cx="3505200" cy="2064841"/>
          </a:xfrm>
          <a:prstGeom prst="roundRect">
            <a:avLst>
              <a:gd name="adj" fmla="val 55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3400" y="2501354"/>
            <a:ext cx="3505200" cy="2064841"/>
          </a:xfrm>
          <a:prstGeom prst="roundRect">
            <a:avLst>
              <a:gd name="adj" fmla="val 55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2501354"/>
            <a:ext cx="3505200" cy="2064841"/>
          </a:xfrm>
          <a:prstGeom prst="roundRect">
            <a:avLst>
              <a:gd name="adj" fmla="val 55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6010275"/>
            <a:ext cx="10972800" cy="9525"/>
          </a:xfrm>
          <a:prstGeom prst="rect">
            <a:avLst/>
          </a:prstGeom>
          <a:solidFill>
            <a:srgbClr val="E0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2501354"/>
            <a:ext cx="3505200" cy="38100"/>
          </a:xfrm>
          <a:prstGeom prst="rect">
            <a:avLst/>
          </a:prstGeom>
          <a:solidFill>
            <a:srgbClr val="315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2501354"/>
            <a:ext cx="3505200" cy="38100"/>
          </a:xfrm>
          <a:prstGeom prst="rect">
            <a:avLst/>
          </a:prstGeom>
          <a:solidFill>
            <a:srgbClr val="19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77200" y="2501354"/>
            <a:ext cx="3505200" cy="381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44254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2844254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2844254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2968079"/>
            <a:ext cx="26670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3925" y="2968079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725" y="2968079"/>
            <a:ext cx="20955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6210300"/>
            <a:ext cx="301204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7B8587"/>
                </a:solidFill>
                <a:latin typeface="Aptos Light" panose="020B0004020202020204" pitchFamily="34" charset="0"/>
              </a:rPr>
              <a:t>RUGGED Brand Architecture &amp; Technical Capabilities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44150" y="6210300"/>
            <a:ext cx="121668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15C45"/>
                </a:solidFill>
                <a:latin typeface="Aptos Light" panose="020B0004020202020204" pitchFamily="34" charset="0"/>
              </a:rPr>
              <a:t>Section 01 /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113973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315C45"/>
                </a:solidFill>
                <a:latin typeface="Aptos" panose="020B0004020202020204" pitchFamily="34" charset="0"/>
              </a:rPr>
              <a:t>STRATEGIC PILLARS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85800"/>
            <a:ext cx="7815625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20262B"/>
                </a:solidFill>
                <a:latin typeface="Montserrat"/>
              </a:rPr>
              <a:t>CORE TECHNOLOGICAL CAPABILITIES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3453854"/>
            <a:ext cx="39004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20262B"/>
                </a:solidFill>
                <a:latin typeface="Montserrat"/>
              </a:rPr>
              <a:t>UGV TRACKED MOBILITY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3834854"/>
            <a:ext cx="30670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7B8587"/>
                </a:solidFill>
                <a:latin typeface="Aptos" panose="020B0004020202020204" pitchFamily="34" charset="0"/>
              </a:rPr>
              <a:t>Robust all-terrain mobility for dense vegetation &amp; steep slopes.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0100" y="3453854"/>
            <a:ext cx="39004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0262B"/>
                </a:solidFill>
                <a:latin typeface="Montserrat"/>
              </a:rPr>
              <a:t>SENSORS &amp; EDGE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0100" y="3834854"/>
            <a:ext cx="30670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7B8587"/>
                </a:solidFill>
                <a:latin typeface="Aptos" panose="020B0004020202020204" pitchFamily="34" charset="0"/>
              </a:rPr>
              <a:t>Multi-spectral LiDAR perception and edge decision analytics.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3900" y="3453854"/>
            <a:ext cx="3848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0262B"/>
                </a:solidFill>
                <a:latin typeface="Montserrat"/>
              </a:rPr>
              <a:t>FIELD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3900" y="3834854"/>
            <a:ext cx="30670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7B8587"/>
                </a:solidFill>
                <a:latin typeface="Aptos" panose="020B0004020202020204" pitchFamily="34" charset="0"/>
              </a:rPr>
              <a:t>Direct deployment from research lab to active wildfire zones.</a:t>
            </a: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ABB88EEC-6646-40E9-9A03-472068403D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4131" y="318321"/>
            <a:ext cx="1847850" cy="738954"/>
          </a:xfrm>
          <a:prstGeom prst="rect">
            <a:avLst/>
          </a:prstGeom>
        </p:spPr>
      </p:pic>
      <p:sp>
        <p:nvSpPr>
          <p:cNvPr id="35" name="Marcador de Posição do Número do Diapositivo 34">
            <a:extLst>
              <a:ext uri="{FF2B5EF4-FFF2-40B4-BE49-F238E27FC236}">
                <a16:creationId xmlns:a16="http://schemas.microsoft.com/office/drawing/2014/main" id="{F3B340C0-E819-E0A1-C96D-09DFE3D6F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0830" y="6103163"/>
            <a:ext cx="40257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latin typeface="Aptos Light" panose="020B0004020202020204" pitchFamily="34" charset="0"/>
              </a:rPr>
              <a:t>2</a:t>
            </a:fld>
            <a:endParaRPr lang="en-US" dirty="0">
              <a:latin typeface="Aptos Light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39379"/>
            <a:ext cx="10972800" cy="3093541"/>
          </a:xfrm>
          <a:prstGeom prst="roundRect">
            <a:avLst>
              <a:gd name="adj" fmla="val 4926"/>
            </a:avLst>
          </a:prstGeom>
          <a:solidFill>
            <a:srgbClr val="315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381789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7B8587"/>
                </a:solidFill>
                <a:latin typeface="Aptos" panose="020B0004020202020204" pitchFamily="34" charset="0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548979"/>
            <a:ext cx="82791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28C28"/>
                </a:solidFill>
                <a:latin typeface="Aptos" panose="020B0004020202020204" pitchFamily="34" charset="0"/>
              </a:rPr>
              <a:t>SECTION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2872829"/>
            <a:ext cx="10341292" cy="921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sz="3300" b="1" i="0" u="none" dirty="0">
                <a:solidFill>
                  <a:srgbClr val="FFFFFF"/>
                </a:solidFill>
                <a:latin typeface="Montserrat"/>
              </a:rPr>
              <a:t>SYSTEM ARCHITECTURE &amp; AUTONOMOUS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3947070"/>
            <a:ext cx="67627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F2F3F0"/>
                </a:solidFill>
                <a:latin typeface="Aptos" panose="020B0004020202020204" pitchFamily="34" charset="0"/>
              </a:rPr>
              <a:t>End-to-end integration combining aerial satellite feeds, local ground robotics, digital twins, and tactical field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343650"/>
            <a:ext cx="187391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7B8587"/>
                </a:solidFill>
                <a:latin typeface="Aptos Light" panose="020B0004020202020204" pitchFamily="34" charset="0"/>
              </a:rPr>
              <a:t>RUGGED Technical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2225" y="6354354"/>
            <a:ext cx="1429879" cy="1500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20262B"/>
                </a:solidFill>
                <a:latin typeface="Aptos Light" panose="020B0004020202020204" pitchFamily="34" charset="0"/>
              </a:rPr>
              <a:t>UGV &amp; DATA INTEGRATION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F1F90D9A-D7CC-3355-D813-E37E85C0F3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131" y="318321"/>
            <a:ext cx="1847850" cy="738954"/>
          </a:xfrm>
          <a:prstGeom prst="rect">
            <a:avLst/>
          </a:prstGeom>
        </p:spPr>
      </p:pic>
      <p:sp>
        <p:nvSpPr>
          <p:cNvPr id="19" name="Marcador de Posição do Número do Diapositivo 34">
            <a:extLst>
              <a:ext uri="{FF2B5EF4-FFF2-40B4-BE49-F238E27FC236}">
                <a16:creationId xmlns:a16="http://schemas.microsoft.com/office/drawing/2014/main" id="{1CB5A99E-165D-C6ED-03F4-D50A50478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0830" y="6103163"/>
            <a:ext cx="40257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latin typeface="Aptos Light" panose="020B0004020202020204" pitchFamily="34" charset="0"/>
              </a:rPr>
              <a:t>3</a:t>
            </a:fld>
            <a:endParaRPr lang="en-US" dirty="0">
              <a:latin typeface="Aptos Light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10275"/>
            <a:ext cx="10972800" cy="39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24162"/>
            <a:ext cx="1765845" cy="1419225"/>
          </a:xfrm>
          <a:prstGeom prst="roundRect">
            <a:avLst>
              <a:gd name="adj" fmla="val 6711"/>
            </a:avLst>
          </a:prstGeom>
          <a:solidFill>
            <a:srgbClr val="315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832645" y="2824162"/>
            <a:ext cx="1765845" cy="1419225"/>
          </a:xfrm>
          <a:prstGeom prst="roundRect">
            <a:avLst>
              <a:gd name="adj" fmla="val 6711"/>
            </a:avLst>
          </a:prstGeom>
          <a:solidFill>
            <a:srgbClr val="19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55691" y="2724150"/>
            <a:ext cx="2080914" cy="1619250"/>
          </a:xfrm>
          <a:prstGeom prst="roundRect">
            <a:avLst>
              <a:gd name="adj" fmla="val 5882"/>
            </a:avLst>
          </a:prstGeom>
          <a:solidFill>
            <a:srgbClr val="20262B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93806" y="2733675"/>
            <a:ext cx="1765845" cy="1600200"/>
          </a:xfrm>
          <a:prstGeom prst="roundRect">
            <a:avLst>
              <a:gd name="adj" fmla="val 5952"/>
            </a:avLst>
          </a:prstGeom>
          <a:solidFill>
            <a:srgbClr val="7B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16851" y="2638425"/>
            <a:ext cx="1765845" cy="1790700"/>
          </a:xfrm>
          <a:prstGeom prst="roundRect">
            <a:avLst>
              <a:gd name="adj" fmla="val 5394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6010275"/>
            <a:ext cx="10972800" cy="9525"/>
          </a:xfrm>
          <a:prstGeom prst="rect">
            <a:avLst/>
          </a:prstGeom>
          <a:solidFill>
            <a:srgbClr val="E0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845" y="3448050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891" y="3448050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006" y="3448050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2051" y="3448050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148" y="3052762"/>
            <a:ext cx="2286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1194" y="3052762"/>
            <a:ext cx="22860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798" y="3009900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779" y="2962275"/>
            <a:ext cx="2857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85400" y="2867025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457200"/>
            <a:ext cx="119584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SYSTEM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20262B"/>
                </a:solidFill>
                <a:latin typeface="Montserrat"/>
              </a:rPr>
              <a:t>INTEGRATED DECISION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210300"/>
            <a:ext cx="217367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7B8587"/>
                </a:solidFill>
                <a:latin typeface="Aptos Light" panose="020B0004020202020204" pitchFamily="34" charset="0"/>
              </a:rPr>
              <a:t>Real-time bi-directional telemetry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1225" y="6210300"/>
            <a:ext cx="173605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Aptos Light" panose="020B0004020202020204" pitchFamily="34" charset="0"/>
              </a:rPr>
              <a:t>Autonomous System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717" y="3395662"/>
            <a:ext cx="181760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Montserrat"/>
              </a:rPr>
              <a:t>DATA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994" y="3633787"/>
            <a:ext cx="173105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FFFFFF"/>
                </a:solidFill>
                <a:latin typeface="Aptos" panose="020B0004020202020204" pitchFamily="34" charset="0"/>
              </a:rPr>
              <a:t>Ground, aerial, and satellite imagery.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6763" y="3395662"/>
            <a:ext cx="181760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Montserrat"/>
              </a:rPr>
              <a:t>AI &amp;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0039" y="3633787"/>
            <a:ext cx="173105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F8FAFC"/>
                </a:solidFill>
                <a:latin typeface="Aptos" panose="020B0004020202020204" pitchFamily="34" charset="0"/>
              </a:rPr>
              <a:t>Wind, fire spread, and risk models.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5582" y="3390900"/>
            <a:ext cx="21811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Montserrat"/>
              </a:rPr>
              <a:t>RUGGED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5485" y="3867150"/>
            <a:ext cx="156132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chemeClr val="bg1"/>
                </a:solidFill>
                <a:latin typeface="Aptos" panose="020B0004020202020204" pitchFamily="34" charset="0"/>
              </a:rPr>
              <a:t>Digital Twin &amp; DSS Center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7924" y="3305175"/>
            <a:ext cx="181760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FIELD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1200" y="3724275"/>
            <a:ext cx="173105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Aptos" panose="020B0004020202020204" pitchFamily="34" charset="0"/>
              </a:rPr>
              <a:t>UGVs, tactical teams, and assets.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0969" y="3209925"/>
            <a:ext cx="181760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Montserrat"/>
              </a:rPr>
              <a:t>ACTIONS &amp; DECISIONS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34246" y="3629025"/>
            <a:ext cx="173105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8FAFC"/>
                </a:solidFill>
                <a:latin typeface="Aptos" panose="020B0004020202020204" pitchFamily="34" charset="0"/>
              </a:rPr>
              <a:t>Targeted wildfire prevention intervention.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7118EE85-9BBE-E078-07E6-8D69679896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4131" y="318321"/>
            <a:ext cx="1847850" cy="738954"/>
          </a:xfrm>
          <a:prstGeom prst="rect">
            <a:avLst/>
          </a:prstGeom>
        </p:spPr>
      </p:pic>
      <p:sp>
        <p:nvSpPr>
          <p:cNvPr id="39" name="Marcador de Posição do Número do Diapositivo 34">
            <a:extLst>
              <a:ext uri="{FF2B5EF4-FFF2-40B4-BE49-F238E27FC236}">
                <a16:creationId xmlns:a16="http://schemas.microsoft.com/office/drawing/2014/main" id="{A4A4723C-CC7C-98FB-0F91-A615D593C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0830" y="6103163"/>
            <a:ext cx="40257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latin typeface="Aptos Light" panose="020B0004020202020204" pitchFamily="34" charset="0"/>
              </a:rPr>
              <a:t>4</a:t>
            </a:fld>
            <a:endParaRPr lang="en-US" dirty="0">
              <a:latin typeface="Aptos Light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10275"/>
            <a:ext cx="10972800" cy="39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10275"/>
            <a:ext cx="10972800" cy="9525"/>
          </a:xfrm>
          <a:prstGeom prst="rect">
            <a:avLst/>
          </a:prstGeom>
          <a:solidFill>
            <a:srgbClr val="E0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524125"/>
            <a:ext cx="5391150" cy="9144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524125"/>
            <a:ext cx="5391150" cy="9144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629025"/>
            <a:ext cx="5391150" cy="9144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3629025"/>
            <a:ext cx="5391150" cy="9144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75272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2752725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3857625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3857625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50" y="2886075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7012" y="2886075"/>
            <a:ext cx="2190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" y="3990975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1300" y="3990975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37537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HARDWARE &amp; SENSORS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20262B"/>
                </a:solidFill>
                <a:latin typeface="Montserrat"/>
              </a:rPr>
              <a:t>ROBOTIC PERCEPTION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210300"/>
            <a:ext cx="177933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7B8587"/>
                </a:solidFill>
                <a:latin typeface="Aptos Light" panose="020B0004020202020204" pitchFamily="34" charset="0"/>
              </a:rPr>
              <a:t>Integrated payload sensor array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0" y="6210300"/>
            <a:ext cx="108202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15C45"/>
                </a:solidFill>
                <a:latin typeface="Aptos Light" panose="020B0004020202020204" pitchFamily="34" charset="0"/>
              </a:rPr>
              <a:t>Robotic Perception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" y="2757487"/>
            <a:ext cx="311288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20262B"/>
                </a:solidFill>
                <a:latin typeface="Montserrat"/>
              </a:rPr>
              <a:t>GNSS &amp; NAVIGATION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" y="3005137"/>
            <a:ext cx="249908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B8587"/>
                </a:solidFill>
                <a:latin typeface="Aptos" panose="020B0004020202020204" pitchFamily="34" charset="0"/>
              </a:rPr>
              <a:t>Centimeter RTK precision under canopy.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5650" y="2757487"/>
            <a:ext cx="28003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0262B"/>
                </a:solidFill>
                <a:latin typeface="Montserrat"/>
              </a:rPr>
              <a:t>RADAR &amp; PERCEPTION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5650" y="3005137"/>
            <a:ext cx="228428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B8587"/>
                </a:solidFill>
                <a:latin typeface="Aptos" panose="020B0004020202020204" pitchFamily="34" charset="0"/>
              </a:rPr>
              <a:t>Obstacle avoidance in dense smoke.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" y="3862387"/>
            <a:ext cx="302537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0262B"/>
                </a:solidFill>
                <a:latin typeface="Montserrat"/>
              </a:rPr>
              <a:t>OPTICAL SENSORS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" y="4110037"/>
            <a:ext cx="239488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B8587"/>
                </a:solidFill>
                <a:latin typeface="Aptos" panose="020B0004020202020204" pitchFamily="34" charset="0"/>
              </a:rPr>
              <a:t>High-resolution multispectral payload.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5650" y="3862387"/>
            <a:ext cx="28003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0262B"/>
                </a:solidFill>
                <a:latin typeface="Montserrat"/>
              </a:rPr>
              <a:t>AI EDGE 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5650" y="4110037"/>
            <a:ext cx="221535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B8587"/>
                </a:solidFill>
                <a:latin typeface="Aptos" panose="020B0004020202020204" pitchFamily="34" charset="0"/>
              </a:rPr>
              <a:t>Onboard real-time hazard mapping.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07D66C8A-EBF2-FC8C-AE1B-BA96199A2A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94131" y="318321"/>
            <a:ext cx="1847850" cy="738954"/>
          </a:xfrm>
          <a:prstGeom prst="rect">
            <a:avLst/>
          </a:prstGeom>
        </p:spPr>
      </p:pic>
      <p:sp>
        <p:nvSpPr>
          <p:cNvPr id="35" name="Marcador de Posição do Número do Diapositivo 34">
            <a:extLst>
              <a:ext uri="{FF2B5EF4-FFF2-40B4-BE49-F238E27FC236}">
                <a16:creationId xmlns:a16="http://schemas.microsoft.com/office/drawing/2014/main" id="{9E357BFA-F6BE-B384-C942-C68AFD54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0830" y="6103163"/>
            <a:ext cx="40257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latin typeface="Aptos Light" panose="020B0004020202020204" pitchFamily="34" charset="0"/>
              </a:rPr>
              <a:t>5</a:t>
            </a:fld>
            <a:endParaRPr lang="en-US" dirty="0">
              <a:latin typeface="Aptos Light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10275"/>
            <a:ext cx="10972800" cy="39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10275"/>
            <a:ext cx="10972800" cy="9525"/>
          </a:xfrm>
          <a:prstGeom prst="rect">
            <a:avLst/>
          </a:prstGeom>
          <a:solidFill>
            <a:srgbClr val="E0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67176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15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30993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9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94811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914525"/>
            <a:ext cx="5257800" cy="3238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914525"/>
            <a:ext cx="5257800" cy="3238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095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315C45"/>
                </a:solidFill>
                <a:latin typeface="Aptos" panose="020B0004020202020204" pitchFamily="34" charset="0"/>
              </a:rPr>
              <a:t>MULTI-MODAL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20262B"/>
                </a:solidFill>
                <a:latin typeface="Montserrat"/>
              </a:rPr>
              <a:t>MULTI-SCALE DATA 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210300"/>
            <a:ext cx="216565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7B8587"/>
                </a:solidFill>
                <a:latin typeface="Aptos Light" panose="020B0004020202020204" pitchFamily="34" charset="0"/>
              </a:rPr>
              <a:t>Multi-scale remote sensing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58425" y="6210300"/>
            <a:ext cx="130003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Aptos Light" panose="020B0004020202020204" pitchFamily="34" charset="0"/>
              </a:rPr>
              <a:t>Geospatial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" y="2743370"/>
            <a:ext cx="59055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 dirty="0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25" y="3381545"/>
            <a:ext cx="59055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5" y="4019720"/>
            <a:ext cx="59055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2671762"/>
            <a:ext cx="482560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20262B"/>
                </a:solidFill>
                <a:latin typeface="Montserrat"/>
              </a:rPr>
              <a:t>MULTISPECTRAL SATELLITE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2919412"/>
            <a:ext cx="3861635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B8587"/>
                </a:solidFill>
                <a:latin typeface="Aptos" panose="020B0004020202020204" pitchFamily="34" charset="0"/>
              </a:rPr>
              <a:t>Macroscopic vegetation stress and moisture index monitoring.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3309937"/>
            <a:ext cx="428803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0262B"/>
                </a:solidFill>
                <a:latin typeface="Montserrat"/>
              </a:rPr>
              <a:t>AERIAL RGB &amp; THERMAL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3557587"/>
            <a:ext cx="343042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B8587"/>
                </a:solidFill>
                <a:latin typeface="Aptos" panose="020B0004020202020204" pitchFamily="34" charset="0"/>
              </a:rPr>
              <a:t>Drone overwatch for localized active hotspot detection.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" y="3948112"/>
            <a:ext cx="402550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0262B"/>
                </a:solidFill>
                <a:latin typeface="Montserrat"/>
              </a:rPr>
              <a:t>LIDAR ELEVATION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800" y="4195762"/>
            <a:ext cx="321241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B8587"/>
                </a:solidFill>
                <a:latin typeface="Aptos" panose="020B0004020202020204" pitchFamily="34" charset="0"/>
              </a:rPr>
              <a:t>3D digital elevation models for canopy fuel analysis.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C18DD17A-FFA7-1A27-F810-AFF1D6E29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131" y="318321"/>
            <a:ext cx="1847850" cy="738954"/>
          </a:xfrm>
          <a:prstGeom prst="rect">
            <a:avLst/>
          </a:prstGeom>
        </p:spPr>
      </p:pic>
      <p:sp>
        <p:nvSpPr>
          <p:cNvPr id="29" name="Marcador de Posição do Número do Diapositivo 34">
            <a:extLst>
              <a:ext uri="{FF2B5EF4-FFF2-40B4-BE49-F238E27FC236}">
                <a16:creationId xmlns:a16="http://schemas.microsoft.com/office/drawing/2014/main" id="{6A7D9378-834A-E7B6-496A-5521CB7F7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0830" y="6103163"/>
            <a:ext cx="40257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latin typeface="Aptos Light" panose="020B0004020202020204" pitchFamily="34" charset="0"/>
              </a:rPr>
              <a:t>6</a:t>
            </a:fld>
            <a:endParaRPr lang="en-US" dirty="0">
              <a:latin typeface="Aptos Light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10275"/>
            <a:ext cx="10972800" cy="39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19387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9950" y="2719387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2719387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10650" y="2719387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6010275"/>
            <a:ext cx="10972800" cy="9525"/>
          </a:xfrm>
          <a:prstGeom prst="rect">
            <a:avLst/>
          </a:prstGeom>
          <a:solidFill>
            <a:srgbClr val="E0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43629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PERFORMANCE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20262B"/>
                </a:solidFill>
                <a:latin typeface="Montserrat"/>
              </a:rPr>
              <a:t>OPERATIONAL BENCHMARKS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210300"/>
            <a:ext cx="230672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7B8587"/>
                </a:solidFill>
                <a:latin typeface="Aptos Light" panose="020B0004020202020204" pitchFamily="34" charset="0"/>
              </a:rPr>
              <a:t>Validated under simulated wildland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91775" y="6210300"/>
            <a:ext cx="117981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Aptos Light" panose="020B0004020202020204" pitchFamily="34" charset="0"/>
              </a:rPr>
              <a:t>System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779" y="3024187"/>
            <a:ext cx="955390" cy="5136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900" b="1" i="0" u="none" dirty="0">
                <a:solidFill>
                  <a:srgbClr val="315C45"/>
                </a:solidFill>
                <a:latin typeface="Aptos" panose="020B0004020202020204" pitchFamily="34" charset="0"/>
              </a:rPr>
              <a:t>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7397" y="3633787"/>
            <a:ext cx="93615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 dirty="0">
                <a:solidFill>
                  <a:srgbClr val="20262B"/>
                </a:solidFill>
                <a:latin typeface="Aptos" panose="020B0004020202020204" pitchFamily="34" charset="0"/>
              </a:rPr>
              <a:t>Water Savings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2977" y="3871912"/>
            <a:ext cx="1384995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 dirty="0">
                <a:solidFill>
                  <a:srgbClr val="7B8587"/>
                </a:solidFill>
                <a:latin typeface="Aptos" panose="020B0004020202020204" pitchFamily="34" charset="0"/>
              </a:rPr>
              <a:t>Targeted precision dosing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50" y="3024187"/>
            <a:ext cx="1253548" cy="5136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900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&lt;2cm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8586" y="3633787"/>
            <a:ext cx="89447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0262B"/>
                </a:solidFill>
                <a:latin typeface="Aptos" panose="020B0004020202020204" pitchFamily="34" charset="0"/>
              </a:rPr>
              <a:t>RTK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8518" y="3871912"/>
            <a:ext cx="139461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7B8587"/>
                </a:solidFill>
                <a:latin typeface="Aptos" panose="020B0004020202020204" pitchFamily="34" charset="0"/>
              </a:rPr>
              <a:t>Dense canopy positioning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3401" y="3024187"/>
            <a:ext cx="825547" cy="5136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900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12h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0239" y="3633787"/>
            <a:ext cx="121187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0262B"/>
                </a:solidFill>
                <a:latin typeface="Aptos" panose="020B0004020202020204" pitchFamily="34" charset="0"/>
              </a:rPr>
              <a:t>Mission Autonomy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6688" y="3871912"/>
            <a:ext cx="1158972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7B8587"/>
                </a:solidFill>
                <a:latin typeface="Aptos" panose="020B0004020202020204" pitchFamily="34" charset="0"/>
              </a:rPr>
              <a:t>Continuous field duty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4978" y="3024187"/>
            <a:ext cx="1223092" cy="5136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900" b="1" i="0" u="none" dirty="0">
                <a:solidFill>
                  <a:srgbClr val="20262B"/>
                </a:solidFill>
                <a:latin typeface="Aptos" panose="020B0004020202020204" pitchFamily="34" charset="0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0777" y="3633787"/>
            <a:ext cx="1011495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0262B"/>
                </a:solidFill>
                <a:latin typeface="Aptos" panose="020B0004020202020204" pitchFamily="34" charset="0"/>
              </a:rPr>
              <a:t>Real-Time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6588" y="3871912"/>
            <a:ext cx="163987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7B8587"/>
                </a:solidFill>
                <a:latin typeface="Aptos" panose="020B0004020202020204" pitchFamily="34" charset="0"/>
              </a:rPr>
              <a:t>Instant DSS telemetry updates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BA3C3FF2-C72B-1FAB-BCA6-37C5EFA41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131" y="318321"/>
            <a:ext cx="1847850" cy="738954"/>
          </a:xfrm>
          <a:prstGeom prst="rect">
            <a:avLst/>
          </a:prstGeom>
        </p:spPr>
      </p:pic>
      <p:sp>
        <p:nvSpPr>
          <p:cNvPr id="31" name="Marcador de Posição do Número do Diapositivo 34">
            <a:extLst>
              <a:ext uri="{FF2B5EF4-FFF2-40B4-BE49-F238E27FC236}">
                <a16:creationId xmlns:a16="http://schemas.microsoft.com/office/drawing/2014/main" id="{BC288AAD-EA91-D676-1D24-2E88B944C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0830" y="6103163"/>
            <a:ext cx="40257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latin typeface="Aptos Light" panose="020B0004020202020204" pitchFamily="34" charset="0"/>
              </a:rPr>
              <a:t>7</a:t>
            </a:fld>
            <a:endParaRPr lang="en-US" dirty="0">
              <a:latin typeface="Aptos Light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39379"/>
            <a:ext cx="10972800" cy="3093541"/>
          </a:xfrm>
          <a:prstGeom prst="roundRect">
            <a:avLst>
              <a:gd name="adj" fmla="val 4926"/>
            </a:avLst>
          </a:prstGeom>
          <a:solidFill>
            <a:srgbClr val="20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4775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7B8587"/>
                </a:solidFill>
                <a:latin typeface="Aptos" panose="020B0004020202020204" pitchFamily="34" charset="0"/>
              </a:rPr>
              <a:t>FIELD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548979"/>
            <a:ext cx="82791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19A7B8"/>
                </a:solidFill>
                <a:latin typeface="Aptos" panose="020B0004020202020204" pitchFamily="34" charset="0"/>
              </a:rPr>
              <a:t>SECTION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2872829"/>
            <a:ext cx="10341292" cy="921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sz="3300" b="1" i="0" u="none" dirty="0">
                <a:solidFill>
                  <a:srgbClr val="FFFFFF"/>
                </a:solidFill>
                <a:latin typeface="Montserrat"/>
              </a:rPr>
              <a:t>FIELD OPERATIONS &amp; WILDLAND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3947070"/>
            <a:ext cx="67627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7B8587"/>
                </a:solidFill>
                <a:latin typeface="Aptos" panose="020B0004020202020204" pitchFamily="34" charset="0"/>
              </a:rPr>
              <a:t>Deploying ground robotics directly into extreme terrain to establish active fire suppression barriers.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343650"/>
            <a:ext cx="1543692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7B8587"/>
                </a:solidFill>
                <a:latin typeface="Aptos Light" panose="020B0004020202020204" pitchFamily="34" charset="0"/>
              </a:rPr>
              <a:t>RUGGED Tactical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20325" y="6343650"/>
            <a:ext cx="136575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0262B"/>
                </a:solidFill>
                <a:latin typeface="Aptos Light" panose="020B0004020202020204" pitchFamily="34" charset="0"/>
              </a:rPr>
              <a:t>ROBOTICS &amp; WILDLANDS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E9B00C2-7E5A-919F-A6A3-2F58244E6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131" y="318321"/>
            <a:ext cx="1847850" cy="738954"/>
          </a:xfrm>
          <a:prstGeom prst="rect">
            <a:avLst/>
          </a:prstGeom>
        </p:spPr>
      </p:pic>
      <p:sp>
        <p:nvSpPr>
          <p:cNvPr id="19" name="Marcador de Posição do Número do Diapositivo 34">
            <a:extLst>
              <a:ext uri="{FF2B5EF4-FFF2-40B4-BE49-F238E27FC236}">
                <a16:creationId xmlns:a16="http://schemas.microsoft.com/office/drawing/2014/main" id="{64836F57-A30B-2EDE-9A32-DE4D714A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0830" y="6103163"/>
            <a:ext cx="40257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latin typeface="Aptos Light" panose="020B0004020202020204" pitchFamily="34" charset="0"/>
              </a:rPr>
              <a:t>8</a:t>
            </a:fld>
            <a:endParaRPr lang="en-US" dirty="0">
              <a:latin typeface="Aptos Light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10275"/>
            <a:ext cx="10972800" cy="39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10275"/>
            <a:ext cx="10972800" cy="9525"/>
          </a:xfrm>
          <a:prstGeom prst="rect">
            <a:avLst/>
          </a:prstGeom>
          <a:solidFill>
            <a:srgbClr val="E0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24600" y="2181225"/>
            <a:ext cx="525780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24600" y="3133725"/>
            <a:ext cx="525780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24600" y="4086225"/>
            <a:ext cx="525780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14525"/>
            <a:ext cx="5257800" cy="3238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74860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315C45"/>
                </a:solidFill>
                <a:latin typeface="Aptos" panose="020B0004020202020204" pitchFamily="34" charset="0"/>
              </a:rPr>
              <a:t>FIELD TRIALS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20262B"/>
                </a:solidFill>
                <a:latin typeface="Montserrat"/>
              </a:rPr>
              <a:t>RUGGED UGV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210300"/>
            <a:ext cx="271228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7B8587"/>
                </a:solidFill>
                <a:latin typeface="Aptos Light" panose="020B0004020202020204" pitchFamily="34" charset="0"/>
              </a:rPr>
              <a:t>Real-world UGV testing in European pine forests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67950" y="6210300"/>
            <a:ext cx="127118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15C45"/>
                </a:solidFill>
                <a:latin typeface="Aptos Light" panose="020B0004020202020204" pitchFamily="34" charset="0"/>
              </a:rPr>
              <a:t>Operational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371725"/>
            <a:ext cx="5638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20262B"/>
                </a:solidFill>
                <a:latin typeface="Montserrat"/>
              </a:rPr>
              <a:t>ALL-TERRAIN TRACKED CHASSIS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2600325"/>
            <a:ext cx="358110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7B8587"/>
                </a:solidFill>
                <a:latin typeface="Aptos" panose="020B0004020202020204" pitchFamily="34" charset="0"/>
              </a:rPr>
              <a:t>High clearance over fallen logs, rocks, and 45-degree inclines.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324225"/>
            <a:ext cx="5638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0262B"/>
                </a:solidFill>
                <a:latin typeface="Montserrat"/>
              </a:rPr>
              <a:t>HYBRID POWER DRIVETRAIN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3552825"/>
            <a:ext cx="448520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B8587"/>
                </a:solidFill>
                <a:latin typeface="Aptos" panose="020B0004020202020204" pitchFamily="34" charset="0"/>
              </a:rPr>
              <a:t>Extended endurance combining high-capacity batteries and silent propulsion.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4276725"/>
            <a:ext cx="5638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0262B"/>
                </a:solidFill>
                <a:latin typeface="Montserrat"/>
              </a:rPr>
              <a:t>TACTICAL TELEMETRY 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4505325"/>
            <a:ext cx="368370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B8587"/>
                </a:solidFill>
                <a:latin typeface="Aptos" panose="020B0004020202020204" pitchFamily="34" charset="0"/>
              </a:rPr>
              <a:t>Resilient mesh network C2 communication under heavy foliage.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96439138-A081-DB54-1424-7447EDA1F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4131" y="318321"/>
            <a:ext cx="1847850" cy="738954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D0C58F21-956E-6667-F84A-CE149D13B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67" y="1962150"/>
            <a:ext cx="5350933" cy="3009900"/>
          </a:xfrm>
          <a:prstGeom prst="rect">
            <a:avLst/>
          </a:prstGeom>
        </p:spPr>
      </p:pic>
      <p:sp>
        <p:nvSpPr>
          <p:cNvPr id="27" name="Marcador de Posição do Número do Diapositivo 34">
            <a:extLst>
              <a:ext uri="{FF2B5EF4-FFF2-40B4-BE49-F238E27FC236}">
                <a16:creationId xmlns:a16="http://schemas.microsoft.com/office/drawing/2014/main" id="{823E7B42-7E2C-5A95-263E-D6F919CF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0830" y="6103163"/>
            <a:ext cx="40257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latin typeface="Aptos Light" panose="020B0004020202020204" pitchFamily="34" charset="0"/>
              </a:rPr>
              <a:t>9</a:t>
            </a:fld>
            <a:endParaRPr lang="en-US" dirty="0">
              <a:latin typeface="Aptos Light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10275"/>
            <a:ext cx="10972800" cy="39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86062"/>
            <a:ext cx="2443162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52812" y="2786062"/>
            <a:ext cx="2443162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96025" y="2786062"/>
            <a:ext cx="2443162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39237" y="2786062"/>
            <a:ext cx="2443162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6010275"/>
            <a:ext cx="10972800" cy="9525"/>
          </a:xfrm>
          <a:prstGeom prst="rect">
            <a:avLst/>
          </a:prstGeom>
          <a:solidFill>
            <a:srgbClr val="E0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3457575"/>
            <a:ext cx="952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5" y="3457575"/>
            <a:ext cx="952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587" y="3457575"/>
            <a:ext cx="952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03714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0262B"/>
                </a:solidFill>
                <a:latin typeface="Montserrat"/>
              </a:rPr>
              <a:t>DEPLOYMENT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10300"/>
            <a:ext cx="193161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7B8587"/>
                </a:solidFill>
                <a:latin typeface="Aptos Light" panose="020B0004020202020204" pitchFamily="34" charset="0"/>
              </a:rPr>
              <a:t>2024–2026 Development 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25125" y="6210300"/>
            <a:ext cx="104676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Aptos Light" panose="020B0004020202020204" pitchFamily="34" charset="0"/>
              </a:rPr>
              <a:t>Project Milestones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052762"/>
            <a:ext cx="50654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315C45"/>
                </a:solidFill>
                <a:latin typeface="Aptos" panose="020B0004020202020204" pitchFamily="34" charset="0"/>
              </a:rPr>
              <a:t>PHASE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3328987"/>
            <a:ext cx="270658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20262B"/>
                </a:solidFill>
                <a:latin typeface="Montserrat"/>
              </a:rPr>
              <a:t>SENSOR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3633787"/>
            <a:ext cx="215741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B8587"/>
                </a:solidFill>
                <a:latin typeface="Aptos" panose="020B0004020202020204" pitchFamily="34" charset="0"/>
              </a:rPr>
              <a:t>Calibrating LiDAR &amp; thermal cameras on UGV payload.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3312" y="3052762"/>
            <a:ext cx="50654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Aptos" panose="020B0004020202020204" pitchFamily="34" charset="0"/>
              </a:rPr>
              <a:t>PHASE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3312" y="3328987"/>
            <a:ext cx="270658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0262B"/>
                </a:solidFill>
                <a:latin typeface="Montserrat"/>
              </a:rPr>
              <a:t>NAV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3312" y="3633787"/>
            <a:ext cx="215741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B8587"/>
                </a:solidFill>
                <a:latin typeface="Aptos" panose="020B0004020202020204" pitchFamily="34" charset="0"/>
              </a:rPr>
              <a:t>Autonomous obstacle traversal in obstacle terrain.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3052762"/>
            <a:ext cx="50654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Aptos" panose="020B0004020202020204" pitchFamily="34" charset="0"/>
              </a:rPr>
              <a:t>PHASE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3328987"/>
            <a:ext cx="270658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0262B"/>
                </a:solidFill>
                <a:latin typeface="Montserrat"/>
              </a:rPr>
              <a:t>SWARM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6525" y="3633787"/>
            <a:ext cx="215741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B8587"/>
                </a:solidFill>
                <a:latin typeface="Aptos" panose="020B0004020202020204" pitchFamily="34" charset="0"/>
              </a:rPr>
              <a:t>Multi-agent coordination between aerial &amp; ground units.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9737" y="3052762"/>
            <a:ext cx="50654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0262B"/>
                </a:solidFill>
                <a:latin typeface="Aptos" panose="020B0004020202020204" pitchFamily="34" charset="0"/>
              </a:rPr>
              <a:t>PHASE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9737" y="3328987"/>
            <a:ext cx="270658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0262B"/>
                </a:solidFill>
                <a:latin typeface="Montserrat"/>
              </a:rPr>
              <a:t>ACTIVE FIELD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9737" y="3633787"/>
            <a:ext cx="215741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B8587"/>
                </a:solidFill>
                <a:latin typeface="Aptos" panose="020B0004020202020204" pitchFamily="34" charset="0"/>
              </a:rPr>
              <a:t>Full operational integration with local fire authorities.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6A00BA16-069A-2D16-F281-81A89BF97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131" y="318321"/>
            <a:ext cx="1847850" cy="738954"/>
          </a:xfrm>
          <a:prstGeom prst="rect">
            <a:avLst/>
          </a:prstGeom>
        </p:spPr>
      </p:pic>
      <p:sp>
        <p:nvSpPr>
          <p:cNvPr id="33" name="Marcador de Posição do Número do Diapositivo 34">
            <a:extLst>
              <a:ext uri="{FF2B5EF4-FFF2-40B4-BE49-F238E27FC236}">
                <a16:creationId xmlns:a16="http://schemas.microsoft.com/office/drawing/2014/main" id="{9CBCE073-01A8-6364-A8F6-4E7DF249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0830" y="6103163"/>
            <a:ext cx="40257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latin typeface="Aptos Light" panose="020B0004020202020204" pitchFamily="34" charset="0"/>
              </a:rPr>
              <a:t>10</a:t>
            </a:fld>
            <a:endParaRPr lang="en-US" dirty="0">
              <a:latin typeface="Aptos Light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10275"/>
            <a:ext cx="10972800" cy="39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10275"/>
            <a:ext cx="10972800" cy="9525"/>
          </a:xfrm>
          <a:prstGeom prst="rect">
            <a:avLst/>
          </a:prstGeom>
          <a:solidFill>
            <a:srgbClr val="E0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635" y="1795462"/>
            <a:ext cx="4779764" cy="304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80332"/>
            <a:ext cx="5735835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635" y="1795462"/>
            <a:ext cx="4779764" cy="304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21187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MISSION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210300"/>
            <a:ext cx="168475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7B8587"/>
                </a:solidFill>
                <a:latin typeface="Aptos Light" panose="020B0004020202020204" pitchFamily="34" charset="0"/>
              </a:rPr>
              <a:t>RUGGED Project Core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210300"/>
            <a:ext cx="127759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15C45"/>
                </a:solidFill>
                <a:latin typeface="Aptos Light" panose="020B0004020202020204" pitchFamily="34" charset="0"/>
              </a:rPr>
              <a:t>Community Resilience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751832"/>
            <a:ext cx="5831085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20262B"/>
                </a:solidFill>
                <a:latin typeface="Montserrat"/>
              </a:rPr>
              <a:t>"Robust technology for safer and more resilient forests and communities."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039344"/>
            <a:ext cx="583108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7B8587"/>
                </a:solidFill>
                <a:latin typeface="Aptos" panose="020B0004020202020204" pitchFamily="34" charset="0"/>
              </a:rPr>
              <a:t>Eliminating human risk in severe environmental disasters through intelligent ground-first robotics.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B241DF2B-C1F6-4F1A-F471-B03473F540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4131" y="318321"/>
            <a:ext cx="1847850" cy="738954"/>
          </a:xfrm>
          <a:prstGeom prst="rect">
            <a:avLst/>
          </a:prstGeom>
        </p:spPr>
      </p:pic>
      <p:sp>
        <p:nvSpPr>
          <p:cNvPr id="19" name="Marcador de Posição do Número do Diapositivo 34">
            <a:extLst>
              <a:ext uri="{FF2B5EF4-FFF2-40B4-BE49-F238E27FC236}">
                <a16:creationId xmlns:a16="http://schemas.microsoft.com/office/drawing/2014/main" id="{5A714299-E8A5-ABAD-F493-DA9C2F53D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0830" y="6103163"/>
            <a:ext cx="40257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latin typeface="Aptos Light" panose="020B0004020202020204" pitchFamily="34" charset="0"/>
              </a:rPr>
              <a:t>11</a:t>
            </a:fld>
            <a:endParaRPr lang="en-US" dirty="0">
              <a:latin typeface="Aptos Light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59AA02-A46A-6386-E5E4-9A589C251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78C136-BCF5-3585-E231-185CF4AA0AB1}"/>
              </a:ext>
            </a:extLst>
          </p:cNvPr>
          <p:cNvSpPr/>
          <p:nvPr/>
        </p:nvSpPr>
        <p:spPr>
          <a:xfrm>
            <a:off x="609600" y="6010275"/>
            <a:ext cx="10972800" cy="39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5E390D-A42B-24BD-8FD8-536936F08306}"/>
              </a:ext>
            </a:extLst>
          </p:cNvPr>
          <p:cNvSpPr/>
          <p:nvPr/>
        </p:nvSpPr>
        <p:spPr>
          <a:xfrm>
            <a:off x="609600" y="6010275"/>
            <a:ext cx="10972800" cy="9525"/>
          </a:xfrm>
          <a:prstGeom prst="rect">
            <a:avLst/>
          </a:prstGeom>
          <a:solidFill>
            <a:srgbClr val="E0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802A45-CF30-C8FE-DECD-FC3B41849770}"/>
              </a:ext>
            </a:extLst>
          </p:cNvPr>
          <p:cNvSpPr txBox="1"/>
          <p:nvPr/>
        </p:nvSpPr>
        <p:spPr>
          <a:xfrm>
            <a:off x="609600" y="457200"/>
            <a:ext cx="96500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GB" sz="975" b="1" dirty="0">
                <a:solidFill>
                  <a:srgbClr val="0F172A"/>
                </a:solidFill>
                <a:latin typeface="Aptos" panose="020B0004020202020204" pitchFamily="34" charset="0"/>
              </a:rPr>
              <a:t>VISUAL IDENTITY</a:t>
            </a:r>
            <a:endParaRPr sz="975" b="1" i="0" u="none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DB34EA-5B2D-6D66-EDF9-FEEF9E2E0F13}"/>
              </a:ext>
            </a:extLst>
          </p:cNvPr>
          <p:cNvSpPr txBox="1"/>
          <p:nvPr/>
        </p:nvSpPr>
        <p:spPr>
          <a:xfrm>
            <a:off x="609600" y="685800"/>
            <a:ext cx="214642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GB" sz="2400" b="1" i="0" u="none" dirty="0">
                <a:solidFill>
                  <a:srgbClr val="20262B"/>
                </a:solidFill>
                <a:latin typeface="Montserrat"/>
              </a:rPr>
              <a:t>REFERENCES</a:t>
            </a:r>
            <a:endParaRPr sz="2400" b="1" i="0" u="none" dirty="0">
              <a:solidFill>
                <a:srgbClr val="20262B"/>
              </a:solidFill>
              <a:latin typeface="Montserra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779CEF-FE44-B012-A2EB-DDA6E450C8C5}"/>
              </a:ext>
            </a:extLst>
          </p:cNvPr>
          <p:cNvSpPr txBox="1"/>
          <p:nvPr/>
        </p:nvSpPr>
        <p:spPr>
          <a:xfrm>
            <a:off x="609600" y="6210300"/>
            <a:ext cx="193161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7B8587"/>
                </a:solidFill>
                <a:latin typeface="Aptos Light" panose="020B0004020202020204" pitchFamily="34" charset="0"/>
              </a:rPr>
              <a:t>2024–2026 Development Timeline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F0B78A-C2B9-FC57-AAA9-27D30C6F4B8A}"/>
              </a:ext>
            </a:extLst>
          </p:cNvPr>
          <p:cNvSpPr txBox="1"/>
          <p:nvPr/>
        </p:nvSpPr>
        <p:spPr>
          <a:xfrm>
            <a:off x="10525125" y="6210300"/>
            <a:ext cx="104676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Aptos Light" panose="020B0004020202020204" pitchFamily="34" charset="0"/>
              </a:rPr>
              <a:t>Project Milestones</a:t>
            </a:r>
          </a:p>
        </p:txBody>
      </p:sp>
      <p:sp>
        <p:nvSpPr>
          <p:cNvPr id="28" name="Rounded Rectangle 4">
            <a:extLst>
              <a:ext uri="{FF2B5EF4-FFF2-40B4-BE49-F238E27FC236}">
                <a16:creationId xmlns:a16="http://schemas.microsoft.com/office/drawing/2014/main" id="{33FEC21C-5EA3-E8A0-BD6A-59DAA53EB42C}"/>
              </a:ext>
            </a:extLst>
          </p:cNvPr>
          <p:cNvSpPr/>
          <p:nvPr/>
        </p:nvSpPr>
        <p:spPr>
          <a:xfrm>
            <a:off x="640080" y="1484335"/>
            <a:ext cx="777240" cy="777240"/>
          </a:xfrm>
          <a:prstGeom prst="roundRect">
            <a:avLst/>
          </a:prstGeom>
          <a:solidFill>
            <a:srgbClr val="20262B"/>
          </a:solidFill>
          <a:ln>
            <a:solidFill>
              <a:srgbClr val="20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148454D4-C7C1-DF79-E628-9AE3570B9654}"/>
              </a:ext>
            </a:extLst>
          </p:cNvPr>
          <p:cNvSpPr txBox="1"/>
          <p:nvPr/>
        </p:nvSpPr>
        <p:spPr>
          <a:xfrm>
            <a:off x="1600200" y="1557487"/>
            <a:ext cx="2468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 dirty="0">
                <a:solidFill>
                  <a:srgbClr val="20262B"/>
                </a:solidFill>
                <a:latin typeface="Aptos"/>
              </a:rPr>
              <a:t>CHARCOAL</a:t>
            </a:r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3D7FF9BC-2290-785F-23CA-15516726E2A5}"/>
              </a:ext>
            </a:extLst>
          </p:cNvPr>
          <p:cNvSpPr txBox="1"/>
          <p:nvPr/>
        </p:nvSpPr>
        <p:spPr>
          <a:xfrm>
            <a:off x="1600200" y="1877527"/>
            <a:ext cx="24688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 dirty="0">
                <a:solidFill>
                  <a:srgbClr val="7B8587"/>
                </a:solidFill>
                <a:latin typeface="Aptos"/>
              </a:rPr>
              <a:t>#20262B</a:t>
            </a:r>
          </a:p>
        </p:txBody>
      </p:sp>
      <p:sp>
        <p:nvSpPr>
          <p:cNvPr id="34" name="Rounded Rectangle 7">
            <a:extLst>
              <a:ext uri="{FF2B5EF4-FFF2-40B4-BE49-F238E27FC236}">
                <a16:creationId xmlns:a16="http://schemas.microsoft.com/office/drawing/2014/main" id="{DCC24E00-DBED-4B58-3459-ADF4D522B8F1}"/>
              </a:ext>
            </a:extLst>
          </p:cNvPr>
          <p:cNvSpPr/>
          <p:nvPr/>
        </p:nvSpPr>
        <p:spPr>
          <a:xfrm>
            <a:off x="4389120" y="1484335"/>
            <a:ext cx="777240" cy="777240"/>
          </a:xfrm>
          <a:prstGeom prst="roundRect">
            <a:avLst/>
          </a:prstGeom>
          <a:solidFill>
            <a:srgbClr val="315C45"/>
          </a:solidFill>
          <a:ln>
            <a:solidFill>
              <a:srgbClr val="315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218C7090-AEAE-86C9-D8CC-20AB518C776B}"/>
              </a:ext>
            </a:extLst>
          </p:cNvPr>
          <p:cNvSpPr txBox="1"/>
          <p:nvPr/>
        </p:nvSpPr>
        <p:spPr>
          <a:xfrm>
            <a:off x="5349240" y="1557487"/>
            <a:ext cx="2468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0262B"/>
                </a:solidFill>
                <a:latin typeface="Aptos"/>
              </a:rPr>
              <a:t>FOREST GREEN</a:t>
            </a: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FD15E463-D42E-71BA-2D60-1D1382ADB77A}"/>
              </a:ext>
            </a:extLst>
          </p:cNvPr>
          <p:cNvSpPr txBox="1"/>
          <p:nvPr/>
        </p:nvSpPr>
        <p:spPr>
          <a:xfrm>
            <a:off x="5349240" y="1877527"/>
            <a:ext cx="24688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7B8587"/>
                </a:solidFill>
                <a:latin typeface="Aptos"/>
              </a:rPr>
              <a:t>#315C45</a:t>
            </a:r>
          </a:p>
        </p:txBody>
      </p:sp>
      <p:sp>
        <p:nvSpPr>
          <p:cNvPr id="40" name="Rounded Rectangle 10">
            <a:extLst>
              <a:ext uri="{FF2B5EF4-FFF2-40B4-BE49-F238E27FC236}">
                <a16:creationId xmlns:a16="http://schemas.microsoft.com/office/drawing/2014/main" id="{5D82A61B-AAB1-3621-086E-D3C3D23F284D}"/>
              </a:ext>
            </a:extLst>
          </p:cNvPr>
          <p:cNvSpPr/>
          <p:nvPr/>
        </p:nvSpPr>
        <p:spPr>
          <a:xfrm>
            <a:off x="8138159" y="1484335"/>
            <a:ext cx="777240" cy="777240"/>
          </a:xfrm>
          <a:prstGeom prst="round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11">
            <a:extLst>
              <a:ext uri="{FF2B5EF4-FFF2-40B4-BE49-F238E27FC236}">
                <a16:creationId xmlns:a16="http://schemas.microsoft.com/office/drawing/2014/main" id="{2B58522D-C31B-C107-61B7-B1643C4BBF47}"/>
              </a:ext>
            </a:extLst>
          </p:cNvPr>
          <p:cNvSpPr txBox="1"/>
          <p:nvPr/>
        </p:nvSpPr>
        <p:spPr>
          <a:xfrm>
            <a:off x="9098280" y="1557487"/>
            <a:ext cx="2468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0262B"/>
                </a:solidFill>
                <a:latin typeface="Aptos"/>
              </a:rPr>
              <a:t>SAFETY ORANGE</a:t>
            </a:r>
          </a:p>
        </p:txBody>
      </p:sp>
      <p:sp>
        <p:nvSpPr>
          <p:cNvPr id="44" name="TextBox 12">
            <a:extLst>
              <a:ext uri="{FF2B5EF4-FFF2-40B4-BE49-F238E27FC236}">
                <a16:creationId xmlns:a16="http://schemas.microsoft.com/office/drawing/2014/main" id="{1D921666-BB86-BC23-E4C3-A7C3792BD67B}"/>
              </a:ext>
            </a:extLst>
          </p:cNvPr>
          <p:cNvSpPr txBox="1"/>
          <p:nvPr/>
        </p:nvSpPr>
        <p:spPr>
          <a:xfrm>
            <a:off x="9098280" y="1877527"/>
            <a:ext cx="24688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7B8587"/>
                </a:solidFill>
                <a:latin typeface="Aptos"/>
              </a:rPr>
              <a:t>#F28C28</a:t>
            </a:r>
          </a:p>
        </p:txBody>
      </p:sp>
      <p:sp>
        <p:nvSpPr>
          <p:cNvPr id="46" name="Rounded Rectangle 13">
            <a:extLst>
              <a:ext uri="{FF2B5EF4-FFF2-40B4-BE49-F238E27FC236}">
                <a16:creationId xmlns:a16="http://schemas.microsoft.com/office/drawing/2014/main" id="{A9BAA9DA-1751-EAA1-F612-8381B8EA0453}"/>
              </a:ext>
            </a:extLst>
          </p:cNvPr>
          <p:cNvSpPr/>
          <p:nvPr/>
        </p:nvSpPr>
        <p:spPr>
          <a:xfrm>
            <a:off x="640080" y="3084535"/>
            <a:ext cx="777240" cy="777240"/>
          </a:xfrm>
          <a:prstGeom prst="roundRect">
            <a:avLst/>
          </a:prstGeom>
          <a:solidFill>
            <a:srgbClr val="19A7B8"/>
          </a:solidFill>
          <a:ln>
            <a:solidFill>
              <a:srgbClr val="19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14">
            <a:extLst>
              <a:ext uri="{FF2B5EF4-FFF2-40B4-BE49-F238E27FC236}">
                <a16:creationId xmlns:a16="http://schemas.microsoft.com/office/drawing/2014/main" id="{383FF360-3E70-14F0-DB54-76DF3E6600BD}"/>
              </a:ext>
            </a:extLst>
          </p:cNvPr>
          <p:cNvSpPr txBox="1"/>
          <p:nvPr/>
        </p:nvSpPr>
        <p:spPr>
          <a:xfrm>
            <a:off x="1600200" y="3157687"/>
            <a:ext cx="2468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0262B"/>
                </a:solidFill>
                <a:latin typeface="Aptos"/>
              </a:rPr>
              <a:t>ELECTRIC CYAN</a:t>
            </a:r>
          </a:p>
        </p:txBody>
      </p:sp>
      <p:sp>
        <p:nvSpPr>
          <p:cNvPr id="50" name="TextBox 15">
            <a:extLst>
              <a:ext uri="{FF2B5EF4-FFF2-40B4-BE49-F238E27FC236}">
                <a16:creationId xmlns:a16="http://schemas.microsoft.com/office/drawing/2014/main" id="{EDA0786C-6F91-5B84-01EC-8C326505BD76}"/>
              </a:ext>
            </a:extLst>
          </p:cNvPr>
          <p:cNvSpPr txBox="1"/>
          <p:nvPr/>
        </p:nvSpPr>
        <p:spPr>
          <a:xfrm>
            <a:off x="1600200" y="3477726"/>
            <a:ext cx="24688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7B8587"/>
                </a:solidFill>
                <a:latin typeface="Aptos"/>
              </a:rPr>
              <a:t>#19A7B8</a:t>
            </a:r>
          </a:p>
        </p:txBody>
      </p:sp>
      <p:sp>
        <p:nvSpPr>
          <p:cNvPr id="52" name="Rounded Rectangle 16">
            <a:extLst>
              <a:ext uri="{FF2B5EF4-FFF2-40B4-BE49-F238E27FC236}">
                <a16:creationId xmlns:a16="http://schemas.microsoft.com/office/drawing/2014/main" id="{FDD41E1E-45D1-23B6-A46F-D350C770E452}"/>
              </a:ext>
            </a:extLst>
          </p:cNvPr>
          <p:cNvSpPr/>
          <p:nvPr/>
        </p:nvSpPr>
        <p:spPr>
          <a:xfrm>
            <a:off x="4389120" y="3084535"/>
            <a:ext cx="777240" cy="777240"/>
          </a:xfrm>
          <a:prstGeom prst="roundRect">
            <a:avLst/>
          </a:prstGeom>
          <a:solidFill>
            <a:srgbClr val="7B8587"/>
          </a:solidFill>
          <a:ln>
            <a:solidFill>
              <a:srgbClr val="7B8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17">
            <a:extLst>
              <a:ext uri="{FF2B5EF4-FFF2-40B4-BE49-F238E27FC236}">
                <a16:creationId xmlns:a16="http://schemas.microsoft.com/office/drawing/2014/main" id="{74754CC2-6D54-F2F0-1CEB-6F00C4FF0A0F}"/>
              </a:ext>
            </a:extLst>
          </p:cNvPr>
          <p:cNvSpPr txBox="1"/>
          <p:nvPr/>
        </p:nvSpPr>
        <p:spPr>
          <a:xfrm>
            <a:off x="5349240" y="3157687"/>
            <a:ext cx="2468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0262B"/>
                </a:solidFill>
                <a:latin typeface="Aptos"/>
              </a:rPr>
              <a:t>STONE GREY</a:t>
            </a:r>
          </a:p>
        </p:txBody>
      </p:sp>
      <p:sp>
        <p:nvSpPr>
          <p:cNvPr id="56" name="TextBox 18">
            <a:extLst>
              <a:ext uri="{FF2B5EF4-FFF2-40B4-BE49-F238E27FC236}">
                <a16:creationId xmlns:a16="http://schemas.microsoft.com/office/drawing/2014/main" id="{4E95729B-27DA-9CAD-531C-72805FFB036D}"/>
              </a:ext>
            </a:extLst>
          </p:cNvPr>
          <p:cNvSpPr txBox="1"/>
          <p:nvPr/>
        </p:nvSpPr>
        <p:spPr>
          <a:xfrm>
            <a:off x="5349240" y="3477726"/>
            <a:ext cx="24688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7B8587"/>
                </a:solidFill>
                <a:latin typeface="Aptos"/>
              </a:rPr>
              <a:t>#7B8587</a:t>
            </a:r>
          </a:p>
        </p:txBody>
      </p:sp>
      <p:sp>
        <p:nvSpPr>
          <p:cNvPr id="58" name="Rounded Rectangle 19">
            <a:extLst>
              <a:ext uri="{FF2B5EF4-FFF2-40B4-BE49-F238E27FC236}">
                <a16:creationId xmlns:a16="http://schemas.microsoft.com/office/drawing/2014/main" id="{CBC09BCA-6F61-ED19-04F2-D0DB9BAEFE49}"/>
              </a:ext>
            </a:extLst>
          </p:cNvPr>
          <p:cNvSpPr/>
          <p:nvPr/>
        </p:nvSpPr>
        <p:spPr>
          <a:xfrm>
            <a:off x="8138159" y="3084535"/>
            <a:ext cx="777240" cy="777240"/>
          </a:xfrm>
          <a:prstGeom prst="roundRect">
            <a:avLst/>
          </a:prstGeom>
          <a:solidFill>
            <a:srgbClr val="F2F3F0"/>
          </a:solidFill>
          <a:ln>
            <a:solidFill>
              <a:srgbClr val="F2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20">
            <a:extLst>
              <a:ext uri="{FF2B5EF4-FFF2-40B4-BE49-F238E27FC236}">
                <a16:creationId xmlns:a16="http://schemas.microsoft.com/office/drawing/2014/main" id="{76A4151B-D950-DA3A-224D-4901D678B875}"/>
              </a:ext>
            </a:extLst>
          </p:cNvPr>
          <p:cNvSpPr txBox="1"/>
          <p:nvPr/>
        </p:nvSpPr>
        <p:spPr>
          <a:xfrm>
            <a:off x="9098280" y="3157687"/>
            <a:ext cx="2468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0262B"/>
                </a:solidFill>
                <a:latin typeface="Aptos"/>
              </a:rPr>
              <a:t>OFF WHITE</a:t>
            </a:r>
          </a:p>
        </p:txBody>
      </p:sp>
      <p:sp>
        <p:nvSpPr>
          <p:cNvPr id="62" name="TextBox 21">
            <a:extLst>
              <a:ext uri="{FF2B5EF4-FFF2-40B4-BE49-F238E27FC236}">
                <a16:creationId xmlns:a16="http://schemas.microsoft.com/office/drawing/2014/main" id="{3EDF5D87-1C64-2043-F11E-94290CFD97B1}"/>
              </a:ext>
            </a:extLst>
          </p:cNvPr>
          <p:cNvSpPr txBox="1"/>
          <p:nvPr/>
        </p:nvSpPr>
        <p:spPr>
          <a:xfrm>
            <a:off x="9098280" y="3477726"/>
            <a:ext cx="24688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7B8587"/>
                </a:solidFill>
                <a:latin typeface="Aptos"/>
              </a:rPr>
              <a:t>#F2F3F0</a:t>
            </a:r>
          </a:p>
        </p:txBody>
      </p:sp>
      <p:sp>
        <p:nvSpPr>
          <p:cNvPr id="64" name="TextBox 22">
            <a:extLst>
              <a:ext uri="{FF2B5EF4-FFF2-40B4-BE49-F238E27FC236}">
                <a16:creationId xmlns:a16="http://schemas.microsoft.com/office/drawing/2014/main" id="{86B80F7C-3704-C648-A560-CE7D12292FE0}"/>
              </a:ext>
            </a:extLst>
          </p:cNvPr>
          <p:cNvSpPr txBox="1"/>
          <p:nvPr/>
        </p:nvSpPr>
        <p:spPr>
          <a:xfrm>
            <a:off x="640080" y="4821895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 dirty="0">
                <a:solidFill>
                  <a:srgbClr val="20262B"/>
                </a:solidFill>
                <a:latin typeface="Aptos"/>
              </a:rPr>
              <a:t>Typography</a:t>
            </a:r>
          </a:p>
        </p:txBody>
      </p:sp>
      <p:sp>
        <p:nvSpPr>
          <p:cNvPr id="66" name="TextBox 23">
            <a:extLst>
              <a:ext uri="{FF2B5EF4-FFF2-40B4-BE49-F238E27FC236}">
                <a16:creationId xmlns:a16="http://schemas.microsoft.com/office/drawing/2014/main" id="{625E4E28-E241-650F-953A-51DC30A11AC4}"/>
              </a:ext>
            </a:extLst>
          </p:cNvPr>
          <p:cNvSpPr txBox="1"/>
          <p:nvPr/>
        </p:nvSpPr>
        <p:spPr>
          <a:xfrm>
            <a:off x="640080" y="5187655"/>
            <a:ext cx="5303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 dirty="0">
                <a:solidFill>
                  <a:srgbClr val="20262B"/>
                </a:solidFill>
                <a:latin typeface="Aptos"/>
              </a:rPr>
              <a:t>Montserrat — headings / titles / emphasis</a:t>
            </a:r>
          </a:p>
        </p:txBody>
      </p:sp>
      <p:sp>
        <p:nvSpPr>
          <p:cNvPr id="68" name="TextBox 24">
            <a:extLst>
              <a:ext uri="{FF2B5EF4-FFF2-40B4-BE49-F238E27FC236}">
                <a16:creationId xmlns:a16="http://schemas.microsoft.com/office/drawing/2014/main" id="{1BF468F4-447F-AFFE-DEBE-B548C5437216}"/>
              </a:ext>
            </a:extLst>
          </p:cNvPr>
          <p:cNvSpPr txBox="1"/>
          <p:nvPr/>
        </p:nvSpPr>
        <p:spPr>
          <a:xfrm>
            <a:off x="640080" y="5525983"/>
            <a:ext cx="5303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20262B"/>
                </a:solidFill>
                <a:latin typeface="Aptos"/>
              </a:rPr>
              <a:t>Aptos — body / captions / tables</a:t>
            </a:r>
          </a:p>
        </p:txBody>
      </p:sp>
      <p:sp>
        <p:nvSpPr>
          <p:cNvPr id="73" name="Marcador de Posição do Número do Diapositivo 34">
            <a:extLst>
              <a:ext uri="{FF2B5EF4-FFF2-40B4-BE49-F238E27FC236}">
                <a16:creationId xmlns:a16="http://schemas.microsoft.com/office/drawing/2014/main" id="{F317C277-BC43-5C7B-960A-1A212BDB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0830" y="6103163"/>
            <a:ext cx="40257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latin typeface="Aptos Light" panose="020B0004020202020204" pitchFamily="34" charset="0"/>
              </a:rPr>
              <a:t>12</a:t>
            </a:fld>
            <a:endParaRPr lang="en-US" dirty="0">
              <a:latin typeface="Aptos Light" panose="020B0004020202020204" pitchFamily="34" charset="0"/>
            </a:endParaRPr>
          </a:p>
        </p:txBody>
      </p:sp>
      <p:pic>
        <p:nvPicPr>
          <p:cNvPr id="75" name="Imagem 74">
            <a:extLst>
              <a:ext uri="{FF2B5EF4-FFF2-40B4-BE49-F238E27FC236}">
                <a16:creationId xmlns:a16="http://schemas.microsoft.com/office/drawing/2014/main" id="{DCFB4D25-BC8A-D993-96FB-7C563CE97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131" y="318321"/>
            <a:ext cx="1847850" cy="73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87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566</Words>
  <Application>Microsoft Office PowerPoint</Application>
  <PresentationFormat>Ecrã Panorâmico</PresentationFormat>
  <Paragraphs>149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3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ADAI - Assoc. Desenv. Aerodinâmica Industrial</cp:lastModifiedBy>
  <cp:revision>2</cp:revision>
  <dcterms:created xsi:type="dcterms:W3CDTF">2013-01-27T09:14:16Z</dcterms:created>
  <dcterms:modified xsi:type="dcterms:W3CDTF">2026-10-12T10:13:44Z</dcterms:modified>
  <cp:category/>
</cp:coreProperties>
</file>